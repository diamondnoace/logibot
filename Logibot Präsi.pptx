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4" r:id="rId2"/>
    <p:sldId id="276" r:id="rId3"/>
    <p:sldId id="260" r:id="rId4"/>
    <p:sldId id="267" r:id="rId5"/>
    <p:sldId id="286" r:id="rId6"/>
    <p:sldId id="287" r:id="rId7"/>
    <p:sldId id="298" r:id="rId8"/>
    <p:sldId id="273" r:id="rId9"/>
    <p:sldId id="306" r:id="rId10"/>
    <p:sldId id="27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/Title" id="{0938C446-2CCE-468C-9B45-075661992FAE}">
          <p14:sldIdLst>
            <p14:sldId id="284"/>
          </p14:sldIdLst>
        </p14:section>
        <p14:section name="Inhalt/Content" id="{131C45DC-E040-44D1-A8B4-A8B6F5EB75AC}">
          <p14:sldIdLst>
            <p14:sldId id="276"/>
            <p14:sldId id="260"/>
          </p14:sldIdLst>
        </p14:section>
        <p14:section name="Headline + Text" id="{474FAAE8-057E-4E47-A772-4D540C802F8D}">
          <p14:sldIdLst>
            <p14:sldId id="267"/>
            <p14:sldId id="286"/>
            <p14:sldId id="287"/>
          </p14:sldIdLst>
        </p14:section>
        <p14:section name="Headline + Text + Picture/Video/Grafik" id="{A970B777-C7BC-4508-A308-E4A3AE919B92}">
          <p14:sldIdLst>
            <p14:sldId id="298"/>
            <p14:sldId id="273"/>
          </p14:sldIdLst>
        </p14:section>
        <p14:section name="Headline + Tabelle/Table" id="{20B25D40-E9FD-482E-9981-F54FE6FD6A9C}">
          <p14:sldIdLst>
            <p14:sldId id="306"/>
            <p14:sldId id="270"/>
          </p14:sldIdLst>
        </p14:section>
        <p14:section name="Bild/Picture/Video" id="{447DAAFC-6109-4B0D-A999-AA8E987F4C7C}">
          <p14:sldIdLst/>
        </p14:section>
        <p14:section name="Zitat/Quote" id="{4FBB75CC-90F2-491B-BADD-09CFC8ABCCD7}">
          <p14:sldIdLst/>
        </p14:section>
        <p14:section name="Kapiteltrenner/New chapter" id="{0CB7CB3B-998B-4FB5-AB2E-B30FE3032474}">
          <p14:sldIdLst/>
        </p14:section>
        <p14:section name="Sprecherwechsel/ Change of speaker" id="{057925FB-2152-438C-80E6-95F3A906D656}">
          <p14:sldIdLst/>
        </p14:section>
        <p14:section name="Schlussfolie/End" id="{ECBC243B-8F87-4ED1-8B87-79EEEA39CF14}">
          <p14:sldIdLst/>
        </p14:section>
        <p14:section name="Standards" id="{3C88BF6E-B90B-4B30-8383-E44716DA894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4" autoAdjust="0"/>
    <p:restoredTop sz="94650" autoAdjust="0"/>
  </p:normalViewPr>
  <p:slideViewPr>
    <p:cSldViewPr snapToGrid="0" showGuides="1">
      <p:cViewPr>
        <p:scale>
          <a:sx n="65" d="100"/>
          <a:sy n="65" d="100"/>
        </p:scale>
        <p:origin x="-56" y="1384"/>
      </p:cViewPr>
      <p:guideLst/>
    </p:cSldViewPr>
  </p:slideViewPr>
  <p:outlineViewPr>
    <p:cViewPr>
      <p:scale>
        <a:sx n="33" d="100"/>
        <a:sy n="33" d="100"/>
      </p:scale>
      <p:origin x="0" y="-8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456"/>
    </p:cViewPr>
  </p:sorterViewPr>
  <p:notesViewPr>
    <p:cSldViewPr snapToGrid="0">
      <p:cViewPr varScale="1">
        <p:scale>
          <a:sx n="105" d="100"/>
          <a:sy n="105" d="100"/>
        </p:scale>
        <p:origin x="4734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2B7C0-AE5A-44CA-8C07-7833E639FAAA}" type="datetimeFigureOut">
              <a:rPr lang="de-DE" smtClean="0"/>
              <a:t>06.06.26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D5F81-E6D3-4CFB-AD5E-034076274E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213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2D893-BCE9-471C-B833-BB7A19EF6DE4}" type="datetimeFigureOut">
              <a:rPr lang="de-DE" smtClean="0"/>
              <a:t>06.06.26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AB94-199C-4148-8B5E-86FE1088B9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19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12917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38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7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3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600"/>
            <a:ext cx="2520000" cy="651596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82850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63" y="705600"/>
            <a:ext cx="2524262" cy="65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Datum, </a:t>
            </a:r>
            <a:r>
              <a:rPr lang="de-DE" dirty="0" err="1"/>
              <a:t>Referent:in</a:t>
            </a:r>
            <a:endParaRPr lang="de-DE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5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Date, </a:t>
            </a:r>
            <a:r>
              <a:rPr lang="de-DE" dirty="0" err="1"/>
              <a:t>speaker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2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59575" y="2168525"/>
            <a:ext cx="4737100" cy="3852863"/>
          </a:xfrm>
        </p:spPr>
        <p:txBody>
          <a:bodyPr/>
          <a:lstStyle>
            <a:lvl3pPr marL="285750" indent="-285750">
              <a:buClr>
                <a:schemeClr val="tx2"/>
              </a:buClr>
              <a:buSzPct val="140000"/>
              <a:buFont typeface="Segoe UI" panose="020B0502040204020203" pitchFamily="34" charset="0"/>
              <a:buChar char="•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E3005E-DC95-48C2-8744-98E740BF00DB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276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Numm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8605-9758-411F-BC2A-EA73C1E3544A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60800" y="2168525"/>
            <a:ext cx="4307599" cy="3852863"/>
          </a:xfrm>
        </p:spPr>
        <p:txBody>
          <a:bodyPr/>
          <a:lstStyle>
            <a:lvl3pPr marL="342900" indent="-342900">
              <a:buClr>
                <a:schemeClr val="tx2"/>
              </a:buClr>
              <a:buSzPct val="100000"/>
              <a:buFont typeface="+mj-lt"/>
              <a:buAutoNum type="arabicPeriod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</p:spTree>
    <p:extLst>
      <p:ext uri="{BB962C8B-B14F-4D97-AF65-F5344CB8AC3E}">
        <p14:creationId xmlns:p14="http://schemas.microsoft.com/office/powerpoint/2010/main" val="179780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E2162D5B-250E-4598-A930-B964702EF604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695325" y="1808164"/>
            <a:ext cx="10801350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9237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765176"/>
            <a:ext cx="5221288" cy="5256212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066B8BD4-24DC-4274-9372-C9FF7442A4D9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6275388" y="1808163"/>
            <a:ext cx="5221287" cy="42132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6321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breit,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00D6677D-5274-4B7A-B59B-78B684BD92C9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695325" y="1808164"/>
            <a:ext cx="5221288" cy="42132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131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3D1F1DF4-0EF8-4E88-B2F0-552CB8F5D1D8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95325" y="1808165"/>
            <a:ext cx="5221288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9" name="Gerader Verbinder 8"/>
          <p:cNvCxnSpPr>
            <a:stCxn id="10" idx="2"/>
          </p:cNvCxnSpPr>
          <p:nvPr userDrawn="1"/>
        </p:nvCxnSpPr>
        <p:spPr>
          <a:xfrm>
            <a:off x="6096000" y="1808164"/>
            <a:ext cx="0" cy="43688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925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916612" y="1808163"/>
            <a:ext cx="5580061" cy="421322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695325" y="1808163"/>
            <a:ext cx="5580063" cy="421322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8C38CCC-F0F0-45F0-806B-2778B1472CBE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1010625" y="2168525"/>
            <a:ext cx="4869475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570051" y="2168525"/>
            <a:ext cx="4926624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066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precherwechsel 3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64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5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60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93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2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5385226"/>
            <a:ext cx="2847101" cy="7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01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5396505"/>
            <a:ext cx="2847101" cy="7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09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90400B-B8CE-45F6-8484-C50DA004031E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5" y="765175"/>
            <a:ext cx="5580063" cy="5275265"/>
          </a:xfrm>
          <a:solidFill>
            <a:schemeClr val="bg2">
              <a:lumMod val="90000"/>
              <a:alpha val="80000"/>
            </a:schemeClr>
          </a:solidFill>
        </p:spPr>
        <p:txBody>
          <a:bodyPr lIns="504000" tIns="1008000"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00151" y="3392488"/>
            <a:ext cx="4679950" cy="2628900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7027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" y="0"/>
            <a:ext cx="6275387" cy="6858000"/>
          </a:xfrm>
          <a:solidFill>
            <a:schemeClr val="bg2">
              <a:lumMod val="90000"/>
              <a:alpha val="80000"/>
            </a:schemeClr>
          </a:solidFill>
        </p:spPr>
        <p:txBody>
          <a:bodyPr lIns="684000" tIns="720000" rIns="46800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39897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8B7965C-A36D-4D4D-9F0C-9DF308512F2C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5031E853-7511-4591-3535-5D4C86BC4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BD02CD4E-F65A-3A85-C56F-F6DC13EEBE36}"/>
              </a:ext>
            </a:extLst>
          </p:cNvPr>
          <p:cNvSpPr txBox="1">
            <a:spLocks/>
          </p:cNvSpPr>
          <p:nvPr userDrawn="1"/>
        </p:nvSpPr>
        <p:spPr>
          <a:xfrm>
            <a:off x="695326" y="765174"/>
            <a:ext cx="5221287" cy="10429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spc="0" baseline="0">
                <a:solidFill>
                  <a:srgbClr val="0046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1920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AAC50B-1973-417D-95F3-12435879B4EC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/>
          <a:lstStyle/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275388" y="765175"/>
            <a:ext cx="5221287" cy="52562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514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,Text links +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D60E4D2F-8CB3-4226-971E-E3979BAE9BFF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765174"/>
            <a:ext cx="5221287" cy="525621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17591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 breit+2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10801349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ED7DC3BA-CC51-4F93-9D36-ECB8391EBCDD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2168525"/>
            <a:ext cx="5221287" cy="385286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8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95644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7" y="764381"/>
            <a:ext cx="5184774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FA42589-0B9F-4A37-B483-83733D4B1101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54750" y="765175"/>
            <a:ext cx="2433638" cy="5256213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33638" cy="5256213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8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14737345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4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5221287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15B927E-FCBC-4EAD-B31E-E3E5068F6639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2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75388" y="765175"/>
            <a:ext cx="2449512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7" cy="3852863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275388" y="3572669"/>
            <a:ext cx="2449512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291262" y="3302637"/>
            <a:ext cx="2433638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0705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/2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8029574" cy="1042989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FD7A94C-3A8F-4E95-AFFF-3722A590B344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2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1807371"/>
            <a:ext cx="8029575" cy="4214018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4745915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D1E8DFD-3C28-4203-8E8F-6050008A509A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517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6048B2-59C2-4CC3-9237-A7B1C4E7A592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765175"/>
            <a:ext cx="10801350" cy="5256214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91794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 mit Beschreib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9209643-A802-4768-9A4F-D84D3C0F4E67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" y="-1"/>
            <a:ext cx="5916612" cy="2447999"/>
          </a:xfrm>
          <a:solidFill>
            <a:schemeClr val="tx1">
              <a:lumMod val="75000"/>
              <a:alpha val="80000"/>
            </a:schemeClr>
          </a:solidFill>
        </p:spPr>
        <p:txBody>
          <a:bodyPr lIns="1224000" rIns="180000" anchor="ctr" anchorCtr="0"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8290882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7" y="765175"/>
            <a:ext cx="10117138" cy="5256213"/>
          </a:xfrm>
        </p:spPr>
        <p:txBody>
          <a:bodyPr anchor="ctr" anchorCtr="0"/>
          <a:lstStyle>
            <a:lvl1pPr>
              <a:defRPr sz="4800" b="0" cap="none" spc="1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„Zitat durch klicken bearbeiten“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379538" y="5661060"/>
            <a:ext cx="9562440" cy="360327"/>
          </a:xfrm>
        </p:spPr>
        <p:txBody>
          <a:bodyPr anchor="b" anchorCtr="0"/>
          <a:lstStyle>
            <a:lvl1pPr algn="l">
              <a:defRPr sz="160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Urheber</a:t>
            </a:r>
          </a:p>
        </p:txBody>
      </p:sp>
    </p:spTree>
    <p:extLst>
      <p:ext uri="{BB962C8B-B14F-4D97-AF65-F5344CB8AC3E}">
        <p14:creationId xmlns:p14="http://schemas.microsoft.com/office/powerpoint/2010/main" val="10108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695325" y="765175"/>
            <a:ext cx="10801350" cy="5256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0" y="8731"/>
            <a:ext cx="10801350" cy="5256213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8" y="2173286"/>
            <a:ext cx="7345362" cy="244316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3994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695325" y="765175"/>
            <a:ext cx="10781919" cy="525621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0" y="1808163"/>
            <a:ext cx="6096000" cy="3168650"/>
          </a:xfrm>
          <a:solidFill>
            <a:schemeClr val="tx2">
              <a:alpha val="90000"/>
            </a:schemeClr>
          </a:solidFill>
        </p:spPr>
        <p:txBody>
          <a:bodyPr lIns="1188000" tIns="0" anchor="ctr" anchorCtr="0"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mit </a:t>
            </a:r>
            <a:r>
              <a:rPr lang="de-DE" dirty="0" err="1"/>
              <a:t>bild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19752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799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räne 1"/>
          <p:cNvSpPr/>
          <p:nvPr userDrawn="1"/>
        </p:nvSpPr>
        <p:spPr>
          <a:xfrm rot="5400000">
            <a:off x="695325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1390651" y="1808163"/>
            <a:ext cx="4525961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85135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Fläche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1808163"/>
            <a:ext cx="10801350" cy="5049837"/>
          </a:xfrm>
          <a:prstGeom prst="rect">
            <a:avLst/>
          </a:prstGeom>
          <a:solidFill>
            <a:schemeClr val="bg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Titelmasterformat durch Klicken bearbeiten</a:t>
            </a:r>
          </a:p>
          <a:p>
            <a:pPr algn="ctr"/>
            <a:endParaRPr lang="de-DE" dirty="0"/>
          </a:p>
        </p:txBody>
      </p:sp>
      <p:sp>
        <p:nvSpPr>
          <p:cNvPr id="2" name="Träne 1"/>
          <p:cNvSpPr/>
          <p:nvPr userDrawn="1"/>
        </p:nvSpPr>
        <p:spPr>
          <a:xfrm rot="5400000">
            <a:off x="3485356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4089115" y="1808163"/>
            <a:ext cx="4206473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3233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E018F8D-C1E7-4A69-B721-962DFD49AD61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95325" y="2168524"/>
            <a:ext cx="10801350" cy="3852863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9914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ha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5221288" cy="5256211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FD186D9-A20D-4A21-B4C9-816C275996A7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275387" y="765176"/>
            <a:ext cx="5221287" cy="5256212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5278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2558237" cy="5256211"/>
          </a:xfrm>
        </p:spPr>
        <p:txBody>
          <a:bodyPr anchor="t" anchorCtr="0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7983435-9D9B-4825-B60D-9166CD7D4886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3467101" y="765176"/>
            <a:ext cx="8029574" cy="5256212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5954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Vielen Dank für Ihre Aufmerksamkeit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253039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91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Thank you for your attention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/>
              <a:t>Unterzeile, Datum, Referent, o.ä.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33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91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47750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Vielen Dank für Ihre </a:t>
            </a:r>
            <a:br>
              <a:rPr lang="de-DE" dirty="0"/>
            </a:br>
            <a:r>
              <a:rPr lang="de-DE" dirty="0"/>
              <a:t>Aufmerksamkeit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6" y="4222800"/>
            <a:ext cx="971958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7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47750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 for </a:t>
            </a:r>
            <a:br>
              <a:rPr lang="en-US" dirty="0"/>
            </a:br>
            <a:r>
              <a:rPr lang="en-US" dirty="0"/>
              <a:t>your attention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7" y="4222800"/>
            <a:ext cx="9795004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10775614" y="4620538"/>
            <a:ext cx="719709" cy="3173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/>
          <a:lstStyle/>
          <a:p>
            <a:fld id="{B7D6821A-5A5B-41CD-A421-0A8E8DBEEFA5}" type="datetime1">
              <a:rPr lang="de-DE" smtClean="0"/>
              <a:t>06.06.26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/>
          <a:lstStyle/>
          <a:p>
            <a:r>
              <a:rPr lang="de-DE"/>
              <a:t>Universität Hohenheim, Titel der Präsentation, Name des Autors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/>
          <a:lstStyle/>
          <a:p>
            <a:fld id="{2104B226-4361-4E3F-8691-235B281AC8CE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00" y="5448314"/>
            <a:ext cx="573074" cy="57307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695325" y="765176"/>
            <a:ext cx="5184774" cy="10429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Standards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695325" y="4616450"/>
            <a:ext cx="2520100" cy="1404938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6254750" y="1808164"/>
            <a:ext cx="524192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äne 9"/>
          <p:cNvSpPr/>
          <p:nvPr userDrawn="1"/>
        </p:nvSpPr>
        <p:spPr>
          <a:xfrm>
            <a:off x="3456531" y="4616450"/>
            <a:ext cx="1369901" cy="1369901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10554789" y="4042240"/>
            <a:ext cx="9405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Symbole</a:t>
            </a:r>
          </a:p>
        </p:txBody>
      </p:sp>
      <p:graphicFrame>
        <p:nvGraphicFramePr>
          <p:cNvPr id="12" name="Tabelle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7083489"/>
              </p:ext>
            </p:extLst>
          </p:nvPr>
        </p:nvGraphicFramePr>
        <p:xfrm>
          <a:off x="695323" y="1810514"/>
          <a:ext cx="1080000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3430008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1894712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4457996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7392713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64051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de-DE" sz="1600" dirty="0"/>
                        <a:t>Benennung 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 err="1"/>
                        <a:t>Credits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9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2000 Degree M.Sc.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120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1.6</a:t>
                      </a:r>
                    </a:p>
                  </a:txBody>
                  <a:tcPr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35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3000 </a:t>
                      </a:r>
                      <a:r>
                        <a:rPr lang="de-DE" sz="1600" dirty="0" err="1"/>
                        <a:t>Compulsory</a:t>
                      </a:r>
                      <a:r>
                        <a:rPr lang="de-DE" sz="1600" dirty="0"/>
                        <a:t>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1507-440 SPOC: Introduction to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2.3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3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1507-450 </a:t>
                      </a:r>
                      <a:r>
                        <a:rPr lang="de-DE" sz="1600" dirty="0" err="1"/>
                        <a:t>AgFoodTech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8923"/>
                  </a:ext>
                </a:extLst>
              </a:tr>
            </a:tbl>
          </a:graphicData>
        </a:graphic>
      </p:graphicFrame>
      <p:sp>
        <p:nvSpPr>
          <p:cNvPr id="13" name="Textfeld 12"/>
          <p:cNvSpPr txBox="1"/>
          <p:nvPr userDrawn="1"/>
        </p:nvSpPr>
        <p:spPr>
          <a:xfrm>
            <a:off x="9082323" y="1252991"/>
            <a:ext cx="2413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Look Tabelle</a:t>
            </a:r>
          </a:p>
        </p:txBody>
      </p:sp>
      <p:graphicFrame>
        <p:nvGraphicFramePr>
          <p:cNvPr id="14" name="Inhaltsplatzhalter 6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976134078"/>
              </p:ext>
            </p:extLst>
          </p:nvPr>
        </p:nvGraphicFramePr>
        <p:xfrm>
          <a:off x="5094026" y="4622331"/>
          <a:ext cx="5221285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80583">
                  <a:extLst>
                    <a:ext uri="{9D8B030D-6E8A-4147-A177-3AD203B41FA5}">
                      <a16:colId xmlns:a16="http://schemas.microsoft.com/office/drawing/2014/main" val="928685103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216239891"/>
                    </a:ext>
                  </a:extLst>
                </a:gridCol>
                <a:gridCol w="1159328">
                  <a:extLst>
                    <a:ext uri="{9D8B030D-6E8A-4147-A177-3AD203B41FA5}">
                      <a16:colId xmlns:a16="http://schemas.microsoft.com/office/drawing/2014/main" val="119096211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341469501"/>
                    </a:ext>
                  </a:extLst>
                </a:gridCol>
                <a:gridCol w="1128030">
                  <a:extLst>
                    <a:ext uri="{9D8B030D-6E8A-4147-A177-3AD203B41FA5}">
                      <a16:colId xmlns:a16="http://schemas.microsoft.com/office/drawing/2014/main" val="2363874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1 - 25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+mn-lt"/>
                        </a:rPr>
                        <a:t>26</a:t>
                      </a: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 - 50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51 - 75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76 - 100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159140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498317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17553299"/>
                  </a:ext>
                </a:extLst>
              </a:tr>
            </a:tbl>
          </a:graphicData>
        </a:graphic>
      </p:graphicFrame>
      <p:cxnSp>
        <p:nvCxnSpPr>
          <p:cNvPr id="15" name="Gerade Verbindung mit Pfeil 14"/>
          <p:cNvCxnSpPr/>
          <p:nvPr userDrawn="1"/>
        </p:nvCxnSpPr>
        <p:spPr>
          <a:xfrm>
            <a:off x="10920912" y="4774981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 userDrawn="1"/>
        </p:nvCxnSpPr>
        <p:spPr>
          <a:xfrm>
            <a:off x="695325" y="4176257"/>
            <a:ext cx="4131107" cy="0"/>
          </a:xfrm>
          <a:prstGeom prst="line">
            <a:avLst/>
          </a:prstGeom>
          <a:ln w="6350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9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765176"/>
            <a:ext cx="10801349" cy="1042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 JDLFJS ÜBER SDKRJE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2168525"/>
            <a:ext cx="10801349" cy="3852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FOLGERUNG VIERTE EBENE 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7EFEDEAA-A5CE-4328-A5AA-9C585C3B2363}" type="datetime1">
              <a:rPr lang="de-DE" smtClean="0"/>
              <a:t>06.06.26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8243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Universität Hohenheim, Titel der Präsentation, Name des Autors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5BEF298-D0C3-0535-FE45-FD819E3B45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720400" y="63500"/>
            <a:ext cx="27797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537173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business use only / Nur für den geschäftlichen Gebrauch</a:t>
            </a:r>
          </a:p>
        </p:txBody>
      </p:sp>
    </p:spTree>
    <p:extLst>
      <p:ext uri="{BB962C8B-B14F-4D97-AF65-F5344CB8AC3E}">
        <p14:creationId xmlns:p14="http://schemas.microsoft.com/office/powerpoint/2010/main" val="160146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669" r:id="rId3"/>
    <p:sldLayoutId id="2147483706" r:id="rId4"/>
    <p:sldLayoutId id="2147483660" r:id="rId5"/>
    <p:sldLayoutId id="2147483707" r:id="rId6"/>
    <p:sldLayoutId id="2147483701" r:id="rId7"/>
    <p:sldLayoutId id="2147483708" r:id="rId8"/>
    <p:sldLayoutId id="2147483670" r:id="rId9"/>
    <p:sldLayoutId id="2147483671" r:id="rId10"/>
    <p:sldLayoutId id="2147483650" r:id="rId11"/>
    <p:sldLayoutId id="2147483674" r:id="rId12"/>
    <p:sldLayoutId id="2147483673" r:id="rId13"/>
    <p:sldLayoutId id="2147483675" r:id="rId14"/>
    <p:sldLayoutId id="2147483677" r:id="rId15"/>
    <p:sldLayoutId id="2147483664" r:id="rId16"/>
    <p:sldLayoutId id="2147483709" r:id="rId17"/>
    <p:sldLayoutId id="2147483668" r:id="rId18"/>
    <p:sldLayoutId id="2147483710" r:id="rId19"/>
    <p:sldLayoutId id="2147483661" r:id="rId20"/>
    <p:sldLayoutId id="2147483711" r:id="rId21"/>
    <p:sldLayoutId id="2147483663" r:id="rId22"/>
    <p:sldLayoutId id="2147483713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99" r:id="rId29"/>
    <p:sldLayoutId id="2147483683" r:id="rId30"/>
    <p:sldLayoutId id="2147483684" r:id="rId31"/>
    <p:sldLayoutId id="2147483703" r:id="rId32"/>
    <p:sldLayoutId id="2147483685" r:id="rId33"/>
    <p:sldLayoutId id="2147483704" r:id="rId34"/>
    <p:sldLayoutId id="2147483686" r:id="rId35"/>
    <p:sldLayoutId id="2147483689" r:id="rId36"/>
    <p:sldLayoutId id="2147483690" r:id="rId37"/>
    <p:sldLayoutId id="2147483667" r:id="rId38"/>
    <p:sldLayoutId id="2147483691" r:id="rId39"/>
    <p:sldLayoutId id="2147483696" r:id="rId40"/>
    <p:sldLayoutId id="2147483692" r:id="rId41"/>
    <p:sldLayoutId id="2147483693" r:id="rId42"/>
    <p:sldLayoutId id="2147483694" r:id="rId43"/>
    <p:sldLayoutId id="2147483666" r:id="rId44"/>
    <p:sldLayoutId id="2147483715" r:id="rId45"/>
    <p:sldLayoutId id="2147483702" r:id="rId46"/>
    <p:sldLayoutId id="2147483714" r:id="rId47"/>
    <p:sldLayoutId id="2147483655" r:id="rId4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cap="all" spc="0" baseline="0">
          <a:solidFill>
            <a:srgbClr val="004678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2200" kern="1200" spc="30" baseline="0">
          <a:solidFill>
            <a:schemeClr val="tx1">
              <a:lumMod val="75000"/>
            </a:schemeClr>
          </a:solidFill>
          <a:latin typeface="Rockwell" panose="02060603020205020403" pitchFamily="18" charset="0"/>
          <a:ea typeface="+mn-ea"/>
          <a:cs typeface="+mn-cs"/>
        </a:defRPr>
      </a:lvl1pPr>
      <a:lvl2pPr marL="288000" indent="-288000" algn="l" defTabSz="914400" rtl="0" eaLnBrk="1" latinLnBrk="0" hangingPunct="1">
        <a:lnSpc>
          <a:spcPct val="100000"/>
        </a:lnSpc>
        <a:spcBef>
          <a:spcPts val="800"/>
        </a:spcBef>
        <a:spcAft>
          <a:spcPts val="500"/>
        </a:spcAft>
        <a:buClr>
          <a:schemeClr val="tx2"/>
        </a:buClr>
        <a:buSzPct val="90000"/>
        <a:buFontTx/>
        <a:buBlip>
          <a:blip r:embed="rId50"/>
        </a:buBlip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Tx/>
        <a:buNone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288000" indent="-2880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Tx/>
        <a:buBlip>
          <a:blip r:embed="rId51"/>
        </a:buBlip>
        <a:defRPr sz="1800" kern="1200" baseline="0">
          <a:solidFill>
            <a:schemeClr val="tx2"/>
          </a:solidFill>
          <a:latin typeface="+mj-lt"/>
          <a:ea typeface="+mn-ea"/>
          <a:cs typeface="+mn-cs"/>
        </a:defRPr>
      </a:lvl4pPr>
      <a:lvl5pPr marL="540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80000"/>
        <a:buFontTx/>
        <a:buBlip>
          <a:blip r:embed="rId52"/>
        </a:buBlip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3840">
          <p15:clr>
            <a:srgbClr val="F26B43"/>
          </p15:clr>
        </p15:guide>
        <p15:guide id="3" pos="7242">
          <p15:clr>
            <a:srgbClr val="F26B43"/>
          </p15:clr>
        </p15:guide>
        <p15:guide id="4" pos="3953">
          <p15:clr>
            <a:srgbClr val="F26B43"/>
          </p15:clr>
        </p15:guide>
        <p15:guide id="5" pos="5496">
          <p15:clr>
            <a:srgbClr val="F26B43"/>
          </p15:clr>
        </p15:guide>
        <p15:guide id="6" pos="3727">
          <p15:clr>
            <a:srgbClr val="F26B43"/>
          </p15:clr>
        </p15:guide>
        <p15:guide id="7" pos="2184">
          <p15:clr>
            <a:srgbClr val="F26B43"/>
          </p15:clr>
        </p15:guide>
        <p15:guide id="8" pos="1958">
          <p15:clr>
            <a:srgbClr val="F26B43"/>
          </p15:clr>
        </p15:guide>
        <p15:guide id="9" pos="756">
          <p15:clr>
            <a:srgbClr val="F26B43"/>
          </p15:clr>
        </p15:guide>
        <p15:guide id="10" pos="5722">
          <p15:clr>
            <a:srgbClr val="F26B43"/>
          </p15:clr>
        </p15:guide>
        <p15:guide id="11" orient="horz" pos="1139">
          <p15:clr>
            <a:srgbClr val="F26B43"/>
          </p15:clr>
        </p15:guide>
        <p15:guide id="12" orient="horz" pos="1366">
          <p15:clr>
            <a:srgbClr val="F26B43"/>
          </p15:clr>
        </p15:guide>
        <p15:guide id="13" orient="horz" pos="2024">
          <p15:clr>
            <a:srgbClr val="F26B43"/>
          </p15:clr>
        </p15:guide>
        <p15:guide id="14" orient="horz" pos="2251">
          <p15:clr>
            <a:srgbClr val="F26B43"/>
          </p15:clr>
        </p15:guide>
        <p15:guide id="15" orient="horz" pos="2908">
          <p15:clr>
            <a:srgbClr val="F26B43"/>
          </p15:clr>
        </p15:guide>
        <p15:guide id="16" orient="horz" pos="3135">
          <p15:clr>
            <a:srgbClr val="F26B43"/>
          </p15:clr>
        </p15:guide>
        <p15:guide id="17" orient="horz" pos="3793">
          <p15:clr>
            <a:srgbClr val="F26B43"/>
          </p15:clr>
        </p15:guide>
        <p15:guide id="18" orient="horz" pos="482">
          <p15:clr>
            <a:srgbClr val="F26B43"/>
          </p15:clr>
        </p15:guide>
        <p15:guide id="19" orient="horz" pos="2137">
          <p15:clr>
            <a:srgbClr val="F26B43"/>
          </p15:clr>
        </p15:guide>
        <p15:guide id="20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LogiBot</a:t>
            </a:r>
            <a:r>
              <a:rPr lang="de-DE" dirty="0"/>
              <a:t> </a:t>
            </a: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Seminar Anwendungsprojekt (Sommersemester 2026)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Endpräsentation: Entwicklung eines regelbasierten </a:t>
            </a:r>
            <a:r>
              <a:rPr lang="de-DE" dirty="0" err="1"/>
              <a:t>Chatbots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216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5325" y="765176"/>
            <a:ext cx="10801349" cy="1042988"/>
          </a:xfrm>
        </p:spPr>
        <p:txBody>
          <a:bodyPr anchor="t">
            <a:normAutofit/>
          </a:bodyPr>
          <a:lstStyle/>
          <a:p>
            <a:r>
              <a:rPr lang="de-DE" dirty="0"/>
              <a:t>Gliederung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D8C46C8-3A24-4FF4-8F10-406619D10F0E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1010625" y="2168525"/>
            <a:ext cx="4869475" cy="3852863"/>
          </a:xfrm>
        </p:spPr>
        <p:txBody>
          <a:bodyPr>
            <a:normAutofit/>
          </a:bodyPr>
          <a:lstStyle/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   Projektüberblick &amp; Zielsetzung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   Meilensteine im Projektverlauf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   Technologierecherche &amp; Shell-Evaluierung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   Architekturentscheidung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   Wissensbasis &amp; Regelstruktur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781CAC-F53F-EE32-2B3C-CFA18AFBB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0051" y="2168525"/>
            <a:ext cx="4926624" cy="3852863"/>
          </a:xfrm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Werkzeuge &amp; Libraries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Herausforderungen &amp; Problemstellungen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 dirty="0"/>
              <a:t>      Getroffene Entscheidungen &amp; Begründungen</a:t>
            </a:r>
          </a:p>
          <a:p>
            <a:pPr marL="0" lvl="1" indent="0">
              <a:lnSpc>
                <a:spcPct val="90000"/>
              </a:lnSpc>
              <a:buNone/>
            </a:pPr>
            <a:endParaRPr lang="de-DE" sz="1700" dirty="0"/>
          </a:p>
          <a:p>
            <a:pPr marL="0" lvl="1" indent="0">
              <a:lnSpc>
                <a:spcPct val="90000"/>
              </a:lnSpc>
              <a:buNone/>
            </a:pPr>
            <a:r>
              <a:rPr lang="de-DE" sz="1700"/>
              <a:t>           </a:t>
            </a:r>
            <a:r>
              <a:rPr lang="de-DE" sz="1700" dirty="0"/>
              <a:t>?</a:t>
            </a:r>
            <a:endParaRPr lang="en-US" sz="170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871F385-1E2C-DB44-A878-A66196EC1F5A}"/>
              </a:ext>
            </a:extLst>
          </p:cNvPr>
          <p:cNvSpPr/>
          <p:nvPr/>
        </p:nvSpPr>
        <p:spPr>
          <a:xfrm>
            <a:off x="1053057" y="2074378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63651E4-AFDE-0E43-ADC8-C33DE20B438F}"/>
              </a:ext>
            </a:extLst>
          </p:cNvPr>
          <p:cNvSpPr/>
          <p:nvPr/>
        </p:nvSpPr>
        <p:spPr>
          <a:xfrm>
            <a:off x="1047414" y="5302010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DD120186-3115-A146-B598-0A714D0CF411}"/>
              </a:ext>
            </a:extLst>
          </p:cNvPr>
          <p:cNvSpPr/>
          <p:nvPr/>
        </p:nvSpPr>
        <p:spPr>
          <a:xfrm>
            <a:off x="1052980" y="4484772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A6684A1-3C18-8A48-85DC-66F683116105}"/>
              </a:ext>
            </a:extLst>
          </p:cNvPr>
          <p:cNvSpPr/>
          <p:nvPr/>
        </p:nvSpPr>
        <p:spPr>
          <a:xfrm>
            <a:off x="1053057" y="3687014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E871F735-E767-054A-A595-58F257EF7A1F}"/>
              </a:ext>
            </a:extLst>
          </p:cNvPr>
          <p:cNvSpPr/>
          <p:nvPr/>
        </p:nvSpPr>
        <p:spPr>
          <a:xfrm>
            <a:off x="1053057" y="2869378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4E9A32FA-8A1C-874D-B5E0-1AEDCE64B092}"/>
              </a:ext>
            </a:extLst>
          </p:cNvPr>
          <p:cNvSpPr/>
          <p:nvPr/>
        </p:nvSpPr>
        <p:spPr>
          <a:xfrm>
            <a:off x="6405459" y="5301755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25D6D0-7DC5-664B-ABBE-D3BC1B7EE45E}"/>
              </a:ext>
            </a:extLst>
          </p:cNvPr>
          <p:cNvSpPr/>
          <p:nvPr/>
        </p:nvSpPr>
        <p:spPr>
          <a:xfrm>
            <a:off x="6405459" y="4482623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A9EE57CF-A93A-1A44-906A-11DC49286968}"/>
              </a:ext>
            </a:extLst>
          </p:cNvPr>
          <p:cNvSpPr/>
          <p:nvPr/>
        </p:nvSpPr>
        <p:spPr>
          <a:xfrm>
            <a:off x="6405459" y="3687014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2B082F5-2852-4B48-B3FB-D84493E734B8}"/>
              </a:ext>
            </a:extLst>
          </p:cNvPr>
          <p:cNvSpPr/>
          <p:nvPr/>
        </p:nvSpPr>
        <p:spPr>
          <a:xfrm>
            <a:off x="6405459" y="2869378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ED5FB49-CD00-5E43-8E41-7E262B20BD48}"/>
              </a:ext>
            </a:extLst>
          </p:cNvPr>
          <p:cNvSpPr/>
          <p:nvPr/>
        </p:nvSpPr>
        <p:spPr>
          <a:xfrm>
            <a:off x="6405459" y="2074378"/>
            <a:ext cx="329184" cy="329184"/>
          </a:xfrm>
          <a:prstGeom prst="rect">
            <a:avLst/>
          </a:prstGeom>
          <a:solidFill>
            <a:srgbClr val="004178"/>
          </a:solidFill>
          <a:ln w="12700">
            <a:solidFill>
              <a:srgbClr val="004178"/>
            </a:solidFill>
            <a:prstDash val="solid"/>
          </a:ln>
        </p:spPr>
        <p:txBody>
          <a:bodyPr/>
          <a:lstStyle/>
          <a:p>
            <a:r>
              <a:rPr lang="de-DE" sz="1050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5326" y="765174"/>
            <a:ext cx="10801349" cy="1042989"/>
          </a:xfrm>
        </p:spPr>
        <p:txBody>
          <a:bodyPr anchor="t">
            <a:normAutofit/>
          </a:bodyPr>
          <a:lstStyle/>
          <a:p>
            <a:r>
              <a:rPr lang="de-DE" dirty="0"/>
              <a:t>Projektüberblick &amp; Zielsetzung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2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1B2C3D4-1111-2222-3333-444455556666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EE4B309-390E-DF0A-9B9B-2E7C12C69A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5388" y="2168525"/>
            <a:ext cx="5221287" cy="38528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Idee: Links in </a:t>
            </a:r>
            <a:r>
              <a:rPr lang="en-US" dirty="0" err="1">
                <a:solidFill>
                  <a:srgbClr val="C00000"/>
                </a:solidFill>
              </a:rPr>
              <a:t>einer</a:t>
            </a:r>
            <a:r>
              <a:rPr lang="en-US" dirty="0">
                <a:solidFill>
                  <a:srgbClr val="C00000"/>
                </a:solidFill>
              </a:rPr>
              <a:t> BOX </a:t>
            </a:r>
            <a:r>
              <a:rPr lang="en-US" dirty="0" err="1">
                <a:solidFill>
                  <a:srgbClr val="C00000"/>
                </a:solidFill>
              </a:rPr>
              <a:t>vielleicht</a:t>
            </a:r>
            <a:r>
              <a:rPr lang="en-US" dirty="0">
                <a:solidFill>
                  <a:srgbClr val="C00000"/>
                </a:solidFill>
              </a:rPr>
              <a:t>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KIM Chatbot </a:t>
            </a:r>
            <a:r>
              <a:rPr lang="en-US" dirty="0" err="1">
                <a:solidFill>
                  <a:srgbClr val="C00000"/>
                </a:solidFill>
              </a:rPr>
              <a:t>heute</a:t>
            </a:r>
            <a:r>
              <a:rPr lang="en-US" dirty="0">
                <a:solidFill>
                  <a:srgbClr val="C00000"/>
                </a:solidFill>
              </a:rPr>
              <a:t> (was </a:t>
            </a:r>
            <a:r>
              <a:rPr lang="en-US" dirty="0" err="1">
                <a:solidFill>
                  <a:srgbClr val="C00000"/>
                </a:solidFill>
              </a:rPr>
              <a:t>schon</a:t>
            </a:r>
            <a:r>
              <a:rPr lang="en-US" dirty="0">
                <a:solidFill>
                  <a:srgbClr val="C00000"/>
                </a:solidFill>
              </a:rPr>
              <a:t> da </a:t>
            </a:r>
            <a:r>
              <a:rPr lang="en-US" dirty="0" err="1">
                <a:solidFill>
                  <a:srgbClr val="C00000"/>
                </a:solidFill>
              </a:rPr>
              <a:t>ist</a:t>
            </a:r>
            <a:r>
              <a:rPr lang="en-US" dirty="0">
                <a:solidFill>
                  <a:srgbClr val="C00000"/>
                </a:solidFill>
              </a:rPr>
              <a:t> und </a:t>
            </a:r>
            <a:r>
              <a:rPr lang="en-US" dirty="0" err="1">
                <a:solidFill>
                  <a:srgbClr val="C00000"/>
                </a:solidFill>
              </a:rPr>
              <a:t>Nachteile</a:t>
            </a:r>
            <a:r>
              <a:rPr lang="en-US" dirty="0">
                <a:solidFill>
                  <a:srgbClr val="C00000"/>
                </a:solidFill>
              </a:rPr>
              <a:t>)</a:t>
            </a:r>
            <a:br>
              <a:rPr lang="en-US" dirty="0">
                <a:solidFill>
                  <a:srgbClr val="C00000"/>
                </a:solidFill>
              </a:rPr>
            </a:br>
            <a:br>
              <a:rPr lang="en-US" dirty="0">
                <a:solidFill>
                  <a:srgbClr val="C00000"/>
                </a:solidFill>
              </a:rPr>
            </a:br>
            <a:r>
              <a:rPr lang="en-US" dirty="0" err="1">
                <a:solidFill>
                  <a:srgbClr val="C00000"/>
                </a:solidFill>
              </a:rPr>
              <a:t>Rechts</a:t>
            </a:r>
            <a:r>
              <a:rPr lang="en-US" dirty="0">
                <a:solidFill>
                  <a:srgbClr val="C00000"/>
                </a:solidFill>
              </a:rPr>
              <a:t> (Wie es </a:t>
            </a:r>
            <a:r>
              <a:rPr lang="en-US" dirty="0" err="1">
                <a:solidFill>
                  <a:srgbClr val="C00000"/>
                </a:solidFill>
              </a:rPr>
              <a:t>aussehen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soll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8" cy="3852863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de-DE" sz="1500" b="1" dirty="0"/>
              <a:t>KIM-</a:t>
            </a:r>
            <a:r>
              <a:rPr lang="de-DE" sz="1500" b="1" dirty="0" err="1"/>
              <a:t>Chatbot</a:t>
            </a:r>
            <a:r>
              <a:rPr lang="de-DE" sz="1500" b="1" dirty="0"/>
              <a:t> heute</a:t>
            </a:r>
          </a:p>
          <a:p>
            <a:pPr lvl="1">
              <a:lnSpc>
                <a:spcPct val="90000"/>
              </a:lnSpc>
            </a:pPr>
            <a:r>
              <a:rPr lang="de-DE" sz="1500" dirty="0"/>
              <a:t>Öffnungszeiten &amp; Services (mehrere Sprachen, Sprachnachrichten)</a:t>
            </a:r>
          </a:p>
          <a:p>
            <a:pPr lvl="1">
              <a:lnSpc>
                <a:spcPct val="90000"/>
              </a:lnSpc>
            </a:pPr>
            <a:r>
              <a:rPr lang="de-DE" sz="1500" dirty="0"/>
              <a:t>Keine IT-Problemlösung, keine Kategorisierung, keine Screenshot-Analyse</a:t>
            </a:r>
          </a:p>
          <a:p>
            <a:pPr lvl="1">
              <a:lnSpc>
                <a:spcPct val="90000"/>
              </a:lnSpc>
            </a:pPr>
            <a:endParaRPr lang="de-DE" sz="1500" dirty="0"/>
          </a:p>
          <a:p>
            <a:pPr lvl="0">
              <a:lnSpc>
                <a:spcPct val="90000"/>
              </a:lnSpc>
            </a:pPr>
            <a:r>
              <a:rPr lang="de-DE" sz="1500" b="1" dirty="0" err="1"/>
              <a:t>LogiBot</a:t>
            </a:r>
            <a:r>
              <a:rPr lang="de-DE" sz="1500" b="1" dirty="0"/>
              <a:t> – Vision</a:t>
            </a:r>
          </a:p>
          <a:p>
            <a:pPr lvl="1">
              <a:lnSpc>
                <a:spcPct val="90000"/>
              </a:lnSpc>
            </a:pPr>
            <a:r>
              <a:rPr lang="de-DE" sz="1500" dirty="0"/>
              <a:t>Regelbasierte IT-Problemlösung mit geführter Kategorisierung</a:t>
            </a:r>
          </a:p>
          <a:p>
            <a:pPr lvl="1">
              <a:lnSpc>
                <a:spcPct val="90000"/>
              </a:lnSpc>
            </a:pPr>
            <a:r>
              <a:rPr lang="de-DE" sz="1500" dirty="0"/>
              <a:t>Erstinstallation &amp; Fehlerbehebung</a:t>
            </a:r>
          </a:p>
          <a:p>
            <a:pPr lvl="1">
              <a:lnSpc>
                <a:spcPct val="90000"/>
              </a:lnSpc>
            </a:pPr>
            <a:r>
              <a:rPr lang="de-DE" sz="1500" dirty="0"/>
              <a:t>Zuverlässige LLM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5325" y="765176"/>
            <a:ext cx="10801349" cy="104298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kern="1200" dirty="0" err="1"/>
              <a:t>Meilensteine</a:t>
            </a:r>
            <a:r>
              <a:rPr lang="en-US" kern="1200" dirty="0"/>
              <a:t> </a:t>
            </a:r>
            <a:r>
              <a:rPr lang="en-US" kern="1200" dirty="0" err="1"/>
              <a:t>im</a:t>
            </a:r>
            <a:r>
              <a:rPr lang="en-US" kern="1200" dirty="0"/>
              <a:t> </a:t>
            </a:r>
            <a:r>
              <a:rPr lang="en-US" kern="1200" dirty="0" err="1"/>
              <a:t>Projektverlauf</a:t>
            </a:r>
            <a:br>
              <a:rPr lang="en-US" sz="2300" kern="1200" dirty="0"/>
            </a:br>
            <a:br>
              <a:rPr lang="en-US" sz="2300" kern="1200" dirty="0"/>
            </a:br>
            <a:endParaRPr lang="en-US" sz="2300" kern="1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C3D4E5-2222-3333-4444-555566667777}" type="datetime1">
              <a:rPr lang="en-US" smtClean="0"/>
              <a:pPr>
                <a:spcAft>
                  <a:spcPts val="600"/>
                </a:spcAft>
              </a:pPr>
              <a:t>6/6/26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85FD2B0C-C800-AB4A-8B52-7319D82EDE36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221645406"/>
              </p:ext>
            </p:extLst>
          </p:nvPr>
        </p:nvGraphicFramePr>
        <p:xfrm>
          <a:off x="736847" y="2168524"/>
          <a:ext cx="10718306" cy="38528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9849">
                  <a:extLst>
                    <a:ext uri="{9D8B030D-6E8A-4147-A177-3AD203B41FA5}">
                      <a16:colId xmlns:a16="http://schemas.microsoft.com/office/drawing/2014/main" val="2900358710"/>
                    </a:ext>
                  </a:extLst>
                </a:gridCol>
                <a:gridCol w="8378457">
                  <a:extLst>
                    <a:ext uri="{9D8B030D-6E8A-4147-A177-3AD203B41FA5}">
                      <a16:colId xmlns:a16="http://schemas.microsoft.com/office/drawing/2014/main" val="926297362"/>
                    </a:ext>
                  </a:extLst>
                </a:gridCol>
              </a:tblGrid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1" u="none" strike="noStrike" dirty="0">
                          <a:effectLst/>
                        </a:rPr>
                        <a:t>Datum</a:t>
                      </a:r>
                      <a:endParaRPr lang="de-DE" sz="2200" b="1" i="0" u="none" strike="noStrike" dirty="0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1" u="none" strike="noStrike" dirty="0">
                          <a:effectLst/>
                        </a:rPr>
                        <a:t>Meilenstein</a:t>
                      </a:r>
                      <a:endParaRPr lang="de-DE" sz="2200" b="1" i="0" u="none" strike="noStrike" dirty="0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999406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13.04.26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 dirty="0">
                          <a:effectLst/>
                        </a:rPr>
                        <a:t>Gruppenleitung &amp; Dokumentation festgelegt</a:t>
                      </a:r>
                      <a:endParaRPr lang="de-DE" sz="2200" b="0" i="0" u="none" strike="noStrike" dirty="0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456305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20.04.26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Vorstellung Recherche: XPS, LLM+RAG, Semantische Netze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369776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27.04.26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 dirty="0">
                          <a:effectLst/>
                        </a:rPr>
                        <a:t>Kategorien &amp; Systemarchitektur definiert</a:t>
                      </a:r>
                      <a:endParaRPr lang="de-DE" sz="2200" b="0" i="0" u="none" strike="noStrike" dirty="0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458582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04.05.26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Shell-Vergleich (Prolog, RecGen, Rasa, Experta)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33517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11.05.26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Bewertungsmatrix, GUI-Anbindung getestet, LLM-Konzept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85657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18.05.26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Regelstruktur (Inferenz &amp; Redakteurssicht), Libraries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12493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>
                          <a:effectLst/>
                        </a:rPr>
                        <a:t>25.05.26</a:t>
                      </a:r>
                      <a:endParaRPr lang="de-DE" sz="2200" b="0" i="0" u="none" strike="noStrike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2200" b="0" u="none" strike="noStrike" dirty="0">
                          <a:effectLst/>
                        </a:rPr>
                        <a:t>Testen der Logik, Debugging, Serveranbindung</a:t>
                      </a:r>
                      <a:endParaRPr lang="de-DE" sz="2200" b="0" i="0" u="none" strike="noStrike" dirty="0">
                        <a:effectLst/>
                        <a:latin typeface="+mn-lt"/>
                      </a:endParaRPr>
                    </a:p>
                  </a:txBody>
                  <a:tcPr marL="111861" marR="111861" marT="55930" marB="559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5328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dirty="0"/>
              <a:t>Technologierecherche: Shell-Evaluierung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759575" y="2168525"/>
            <a:ext cx="4737100" cy="3852863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de-DE" sz="1600" b="1" dirty="0"/>
              <a:t>Prolog                   Weiter genutzt</a:t>
            </a:r>
          </a:p>
          <a:p>
            <a:pPr lvl="1">
              <a:lnSpc>
                <a:spcPct val="90000"/>
              </a:lnSpc>
            </a:pPr>
            <a:r>
              <a:rPr lang="de-DE" sz="1600" dirty="0"/>
              <a:t>Pro: Effizient, große Community  </a:t>
            </a:r>
            <a:br>
              <a:rPr lang="de-DE" sz="1600" dirty="0"/>
            </a:br>
            <a:r>
              <a:rPr lang="de-DE" sz="1600" dirty="0" err="1"/>
              <a:t>Con</a:t>
            </a:r>
            <a:r>
              <a:rPr lang="de-DE" sz="1600" dirty="0"/>
              <a:t>: Sehr eigene Syntax, schwer lesbar</a:t>
            </a:r>
          </a:p>
          <a:p>
            <a:pPr lvl="0">
              <a:lnSpc>
                <a:spcPct val="90000"/>
              </a:lnSpc>
            </a:pPr>
            <a:r>
              <a:rPr lang="de-DE" sz="1600" b="1" dirty="0" err="1"/>
              <a:t>RecGen</a:t>
            </a:r>
            <a:r>
              <a:rPr lang="de-DE" sz="1600" b="1" dirty="0"/>
              <a:t>                 Weiter genutzt</a:t>
            </a:r>
          </a:p>
          <a:p>
            <a:pPr lvl="1">
              <a:lnSpc>
                <a:spcPct val="90000"/>
              </a:lnSpc>
            </a:pPr>
            <a:r>
              <a:rPr lang="de-DE" sz="1600" dirty="0"/>
              <a:t>Pro: Gut </a:t>
            </a:r>
            <a:r>
              <a:rPr lang="de-DE" sz="1600" dirty="0" err="1"/>
              <a:t>strukturierbar</a:t>
            </a:r>
            <a:r>
              <a:rPr lang="de-DE" sz="1600" dirty="0"/>
              <a:t>, Excel-Integration</a:t>
            </a:r>
            <a:br>
              <a:rPr lang="de-DE" sz="1600" dirty="0"/>
            </a:br>
            <a:r>
              <a:rPr lang="de-DE" sz="1600" dirty="0" err="1"/>
              <a:t>Con</a:t>
            </a:r>
            <a:r>
              <a:rPr lang="de-DE" sz="1600" dirty="0"/>
              <a:t>: Hoher Pflegeaufwand bei Komplexität</a:t>
            </a:r>
          </a:p>
          <a:p>
            <a:pPr lvl="0">
              <a:lnSpc>
                <a:spcPct val="90000"/>
              </a:lnSpc>
            </a:pPr>
            <a:r>
              <a:rPr lang="de-DE" sz="1600" b="1" dirty="0"/>
              <a:t>Rasa                       Ausgeschieden</a:t>
            </a:r>
          </a:p>
          <a:p>
            <a:pPr lvl="1">
              <a:lnSpc>
                <a:spcPct val="90000"/>
              </a:lnSpc>
            </a:pPr>
            <a:r>
              <a:rPr lang="de-DE" sz="1600" dirty="0"/>
              <a:t>Pro: Flexibel</a:t>
            </a:r>
            <a:br>
              <a:rPr lang="de-DE" sz="1600" dirty="0"/>
            </a:br>
            <a:r>
              <a:rPr lang="de-DE" sz="1600" dirty="0" err="1"/>
              <a:t>Con</a:t>
            </a:r>
            <a:r>
              <a:rPr lang="de-DE" sz="1600" dirty="0"/>
              <a:t>: ~1.000 €/mtl., Python veraltete Version</a:t>
            </a:r>
          </a:p>
          <a:p>
            <a:pPr lvl="0">
              <a:lnSpc>
                <a:spcPct val="90000"/>
              </a:lnSpc>
            </a:pPr>
            <a:r>
              <a:rPr lang="de-DE" sz="1600" b="1" dirty="0" err="1"/>
              <a:t>Experta</a:t>
            </a:r>
            <a:r>
              <a:rPr lang="de-DE" sz="1600" b="1" dirty="0"/>
              <a:t>                 Weiter genutzt</a:t>
            </a:r>
          </a:p>
          <a:p>
            <a:pPr lvl="1">
              <a:lnSpc>
                <a:spcPct val="90000"/>
              </a:lnSpc>
            </a:pPr>
            <a:r>
              <a:rPr lang="de-DE" sz="1600" dirty="0"/>
              <a:t>Pro: Python-basiert, deterministisch  </a:t>
            </a:r>
            <a:br>
              <a:rPr lang="de-DE" sz="1600" dirty="0"/>
            </a:br>
            <a:r>
              <a:rPr lang="de-DE" sz="1600" dirty="0" err="1"/>
              <a:t>Con</a:t>
            </a:r>
            <a:r>
              <a:rPr lang="de-DE" sz="1600" dirty="0"/>
              <a:t>: Logik &amp; UI vermischt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3D4E5F6-3333-4444-5555-666677778888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5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0FE9C60-0CEC-5440-8505-3E1C5DA4EA16}"/>
              </a:ext>
            </a:extLst>
          </p:cNvPr>
          <p:cNvSpPr/>
          <p:nvPr/>
        </p:nvSpPr>
        <p:spPr>
          <a:xfrm>
            <a:off x="7714364" y="2152095"/>
            <a:ext cx="554994" cy="253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0A8FAEA-50E6-C049-BEBC-6A5F510FB40A}"/>
              </a:ext>
            </a:extLst>
          </p:cNvPr>
          <p:cNvCxnSpPr/>
          <p:nvPr/>
        </p:nvCxnSpPr>
        <p:spPr>
          <a:xfrm>
            <a:off x="7808846" y="2270321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D3A9A800-988C-6443-87CE-68DF9F2C532B}"/>
              </a:ext>
            </a:extLst>
          </p:cNvPr>
          <p:cNvSpPr/>
          <p:nvPr/>
        </p:nvSpPr>
        <p:spPr>
          <a:xfrm>
            <a:off x="7707739" y="4159627"/>
            <a:ext cx="554994" cy="253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7A77E19-8CC1-2A42-A5F6-1D449AEB9C09}"/>
              </a:ext>
            </a:extLst>
          </p:cNvPr>
          <p:cNvSpPr/>
          <p:nvPr/>
        </p:nvSpPr>
        <p:spPr>
          <a:xfrm>
            <a:off x="7707739" y="3177341"/>
            <a:ext cx="554994" cy="253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6E0A93C-3D13-0148-9B86-EB936FD38A2F}"/>
              </a:ext>
            </a:extLst>
          </p:cNvPr>
          <p:cNvSpPr/>
          <p:nvPr/>
        </p:nvSpPr>
        <p:spPr>
          <a:xfrm>
            <a:off x="7707739" y="5205153"/>
            <a:ext cx="554994" cy="253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8C4270C-D9B4-DD46-A276-4BAB53FA1F12}"/>
              </a:ext>
            </a:extLst>
          </p:cNvPr>
          <p:cNvCxnSpPr/>
          <p:nvPr/>
        </p:nvCxnSpPr>
        <p:spPr>
          <a:xfrm>
            <a:off x="7808846" y="3303928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E3C2883-89CF-DC42-9422-7CF1CB115523}"/>
              </a:ext>
            </a:extLst>
          </p:cNvPr>
          <p:cNvCxnSpPr/>
          <p:nvPr/>
        </p:nvCxnSpPr>
        <p:spPr>
          <a:xfrm>
            <a:off x="7808846" y="5331740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B6712F6-FE14-7B47-B12E-3A6516B38664}"/>
              </a:ext>
            </a:extLst>
          </p:cNvPr>
          <p:cNvCxnSpPr/>
          <p:nvPr/>
        </p:nvCxnSpPr>
        <p:spPr>
          <a:xfrm>
            <a:off x="7794736" y="4277161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sz="2600"/>
              <a:t>Architekturentscheidung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5F6A7-4444-5555-6666-777788889999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773133" y="4629848"/>
            <a:ext cx="4307599" cy="3852863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endParaRPr lang="de-DE" sz="1400" dirty="0">
              <a:latin typeface="+mn-lt"/>
            </a:endParaRPr>
          </a:p>
          <a:p>
            <a:pPr lvl="0">
              <a:lnSpc>
                <a:spcPct val="90000"/>
              </a:lnSpc>
            </a:pPr>
            <a:r>
              <a:rPr lang="de-DE" sz="1400" b="1" dirty="0">
                <a:latin typeface="+mn-lt"/>
              </a:rPr>
              <a:t>Warum nicht nur LLM?</a:t>
            </a:r>
          </a:p>
          <a:p>
            <a:pPr lvl="1">
              <a:lnSpc>
                <a:spcPct val="90000"/>
              </a:lnSpc>
            </a:pPr>
            <a:r>
              <a:rPr lang="de-DE" sz="1400" dirty="0"/>
              <a:t>Halluzinationsgefahr bei IT-Anleitungen → sicheres Wissen muss kontrolliert bleiben</a:t>
            </a:r>
          </a:p>
          <a:p>
            <a:pPr lvl="1">
              <a:lnSpc>
                <a:spcPct val="90000"/>
              </a:lnSpc>
            </a:pPr>
            <a:r>
              <a:rPr lang="de-DE" sz="1400" dirty="0"/>
              <a:t>LLM nur für Sprache &amp; Kategorisierung</a:t>
            </a: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18CCFD22-D39F-8841-AD06-CE4307D3177A}"/>
              </a:ext>
            </a:extLst>
          </p:cNvPr>
          <p:cNvSpPr/>
          <p:nvPr/>
        </p:nvSpPr>
        <p:spPr>
          <a:xfrm>
            <a:off x="6773133" y="917384"/>
            <a:ext cx="5029200" cy="713232"/>
          </a:xfrm>
          <a:prstGeom prst="rect">
            <a:avLst/>
          </a:prstGeom>
          <a:solidFill>
            <a:srgbClr val="4A8BAB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E825A2A6-6E33-E54C-B228-091106C3FC61}"/>
              </a:ext>
            </a:extLst>
          </p:cNvPr>
          <p:cNvSpPr/>
          <p:nvPr/>
        </p:nvSpPr>
        <p:spPr>
          <a:xfrm>
            <a:off x="6773133" y="953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Web-Frontend</a:t>
            </a:r>
            <a:endParaRPr lang="en-US" sz="135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88ABF4C9-D544-4B47-B437-84C8D2DAC799}"/>
              </a:ext>
            </a:extLst>
          </p:cNvPr>
          <p:cNvSpPr/>
          <p:nvPr/>
        </p:nvSpPr>
        <p:spPr>
          <a:xfrm>
            <a:off x="6773133" y="1264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B79C913C-6174-4A41-8DC4-BCA6C51B63F6}"/>
              </a:ext>
            </a:extLst>
          </p:cNvPr>
          <p:cNvSpPr/>
          <p:nvPr/>
        </p:nvSpPr>
        <p:spPr>
          <a:xfrm>
            <a:off x="6773133" y="1813496"/>
            <a:ext cx="5029200" cy="713232"/>
          </a:xfrm>
          <a:prstGeom prst="rect">
            <a:avLst/>
          </a:prstGeom>
          <a:solidFill>
            <a:srgbClr val="3A7EA8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9FD39CDB-0EDA-EB49-927E-1549B6CBA145}"/>
              </a:ext>
            </a:extLst>
          </p:cNvPr>
          <p:cNvSpPr/>
          <p:nvPr/>
        </p:nvSpPr>
        <p:spPr>
          <a:xfrm>
            <a:off x="6773133" y="18500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LLM-Schicht</a:t>
            </a:r>
            <a:endParaRPr lang="en-US" sz="135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21B29183-6AC4-AD4E-9B73-BEE53AA98D38}"/>
              </a:ext>
            </a:extLst>
          </p:cNvPr>
          <p:cNvSpPr/>
          <p:nvPr/>
        </p:nvSpPr>
        <p:spPr>
          <a:xfrm>
            <a:off x="6773133" y="2160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0E13CE24-3F46-AA4B-AEB0-F16EB8757A64}"/>
              </a:ext>
            </a:extLst>
          </p:cNvPr>
          <p:cNvSpPr/>
          <p:nvPr/>
        </p:nvSpPr>
        <p:spPr>
          <a:xfrm>
            <a:off x="6773133" y="2709608"/>
            <a:ext cx="5029200" cy="713232"/>
          </a:xfrm>
          <a:prstGeom prst="rect">
            <a:avLst/>
          </a:prstGeom>
          <a:solidFill>
            <a:srgbClr val="004178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C288A604-5648-F64F-B859-C8800FF6C24A}"/>
              </a:ext>
            </a:extLst>
          </p:cNvPr>
          <p:cNvSpPr/>
          <p:nvPr/>
        </p:nvSpPr>
        <p:spPr>
          <a:xfrm>
            <a:off x="6773133" y="27461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Inferenzmaschine (XPS)</a:t>
            </a:r>
            <a:endParaRPr lang="en-US" sz="135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44B62DFA-EBA6-E149-89E1-35690090EBE7}"/>
              </a:ext>
            </a:extLst>
          </p:cNvPr>
          <p:cNvSpPr/>
          <p:nvPr/>
        </p:nvSpPr>
        <p:spPr>
          <a:xfrm>
            <a:off x="6773133" y="3057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1846A1D-FD8C-0B4D-A9A0-94F9AF04BB9D}"/>
              </a:ext>
            </a:extLst>
          </p:cNvPr>
          <p:cNvSpPr/>
          <p:nvPr/>
        </p:nvSpPr>
        <p:spPr>
          <a:xfrm>
            <a:off x="6773133" y="3605720"/>
            <a:ext cx="5029200" cy="713232"/>
          </a:xfrm>
          <a:prstGeom prst="rect">
            <a:avLst/>
          </a:prstGeom>
          <a:solidFill>
            <a:srgbClr val="00206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7141563B-931A-6546-A4AD-38E8EDBA7F67}"/>
              </a:ext>
            </a:extLst>
          </p:cNvPr>
          <p:cNvSpPr/>
          <p:nvPr/>
        </p:nvSpPr>
        <p:spPr>
          <a:xfrm>
            <a:off x="6773133" y="36422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Wissensbasis</a:t>
            </a:r>
            <a:endParaRPr lang="en-US" sz="135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9A6360B0-4526-2545-AF8E-A47034E1FF33}"/>
              </a:ext>
            </a:extLst>
          </p:cNvPr>
          <p:cNvSpPr/>
          <p:nvPr/>
        </p:nvSpPr>
        <p:spPr>
          <a:xfrm>
            <a:off x="6773133" y="3953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JSON-</a:t>
            </a:r>
            <a:r>
              <a:rPr lang="en-US" sz="1000" dirty="0" err="1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Regeln</a:t>
            </a:r>
            <a:r>
              <a:rPr lang="en-US" sz="1000" dirty="0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Entscheidungsbaum</a:t>
            </a:r>
            <a:r>
              <a:rPr lang="en-US" sz="1000" dirty="0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Kategorien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dirty="0"/>
              <a:t>Wissensbasis &amp; Regelstruktur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600825" y="1033671"/>
            <a:ext cx="4895850" cy="4987718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de-DE" sz="2000" dirty="0">
                <a:solidFill>
                  <a:srgbClr val="C00000"/>
                </a:solidFill>
                <a:latin typeface="+mn-lt"/>
              </a:rPr>
              <a:t>? Regeln und </a:t>
            </a:r>
            <a:r>
              <a:rPr lang="de-DE" sz="2000" dirty="0" err="1">
                <a:solidFill>
                  <a:srgbClr val="C00000"/>
                </a:solidFill>
                <a:latin typeface="+mn-lt"/>
              </a:rPr>
              <a:t>Condition</a:t>
            </a:r>
            <a:r>
              <a:rPr lang="de-DE" sz="2000" dirty="0">
                <a:solidFill>
                  <a:srgbClr val="C00000"/>
                </a:solidFill>
                <a:latin typeface="+mn-lt"/>
              </a:rPr>
              <a:t> hier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5F6A7B8-5555-6666-7777-888899990000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dirty="0"/>
              <a:t>Werkzeuge &amp; Libraries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6A7B8C9-6666-7777-8888-999900001111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760800" y="2168525"/>
            <a:ext cx="4307599" cy="3852863"/>
          </a:xfrm>
        </p:spPr>
        <p:txBody>
          <a:bodyPr>
            <a:normAutofit/>
          </a:bodyPr>
          <a:lstStyle/>
          <a:p>
            <a:pPr lvl="1"/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br>
              <a:rPr lang="de-DE" sz="1600" b="1" dirty="0"/>
            </a:br>
            <a:endParaRPr lang="de-DE" sz="1600" b="1" dirty="0"/>
          </a:p>
          <a:p>
            <a:pPr lvl="1"/>
            <a:r>
              <a:rPr lang="de-DE" sz="1600" dirty="0"/>
              <a:t>Warum JSON statt XML? </a:t>
            </a:r>
            <a:br>
              <a:rPr lang="de-DE" sz="1600" dirty="0"/>
            </a:br>
            <a:r>
              <a:rPr lang="de-DE" sz="1600" dirty="0"/>
              <a:t>Leichtgewichtiger, </a:t>
            </a:r>
            <a:r>
              <a:rPr lang="de-DE" sz="1600" dirty="0" err="1"/>
              <a:t>Pythonbasiert</a:t>
            </a:r>
            <a:r>
              <a:rPr lang="de-DE" sz="1600" dirty="0"/>
              <a:t>, einfacher lesbar, besser in moderne Webseiten integrierbar.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1F50A8FE-530B-D142-AFC2-EEFCC82949D8}"/>
              </a:ext>
            </a:extLst>
          </p:cNvPr>
          <p:cNvSpPr/>
          <p:nvPr/>
        </p:nvSpPr>
        <p:spPr>
          <a:xfrm>
            <a:off x="6773133" y="917384"/>
            <a:ext cx="5029200" cy="713232"/>
          </a:xfrm>
          <a:prstGeom prst="rect">
            <a:avLst/>
          </a:prstGeom>
          <a:solidFill>
            <a:srgbClr val="4A8BAB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75C03712-05E6-C84D-B62A-057C8703F1D7}"/>
              </a:ext>
            </a:extLst>
          </p:cNvPr>
          <p:cNvSpPr/>
          <p:nvPr/>
        </p:nvSpPr>
        <p:spPr>
          <a:xfrm>
            <a:off x="6773133" y="953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err="1">
                <a:solidFill>
                  <a:srgbClr val="FFFFFF"/>
                </a:solidFill>
                <a:cs typeface="Calibri" pitchFamily="34" charset="-120"/>
              </a:rPr>
              <a:t>Expertra</a:t>
            </a:r>
            <a:endParaRPr lang="en-US" sz="13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54F6433-F34D-7044-A22F-7B2724AEBC12}"/>
              </a:ext>
            </a:extLst>
          </p:cNvPr>
          <p:cNvSpPr/>
          <p:nvPr/>
        </p:nvSpPr>
        <p:spPr>
          <a:xfrm>
            <a:off x="6773133" y="1264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Regelbasiertes</a:t>
            </a:r>
            <a:r>
              <a:rPr lang="en-US" sz="1000" dirty="0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 XPS in Python</a:t>
            </a:r>
            <a:endParaRPr lang="en-US" sz="10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B3E373C-AF67-AA46-8309-4E454888BD85}"/>
              </a:ext>
            </a:extLst>
          </p:cNvPr>
          <p:cNvSpPr/>
          <p:nvPr/>
        </p:nvSpPr>
        <p:spPr>
          <a:xfrm>
            <a:off x="6773133" y="1813496"/>
            <a:ext cx="5029200" cy="713232"/>
          </a:xfrm>
          <a:prstGeom prst="rect">
            <a:avLst/>
          </a:prstGeom>
          <a:solidFill>
            <a:srgbClr val="3A7EA8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94B7E34-61EA-AD4A-B5E1-41BB95D9C3EF}"/>
              </a:ext>
            </a:extLst>
          </p:cNvPr>
          <p:cNvSpPr/>
          <p:nvPr/>
        </p:nvSpPr>
        <p:spPr>
          <a:xfrm>
            <a:off x="6773133" y="18500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err="1">
                <a:solidFill>
                  <a:srgbClr val="FFFFFF"/>
                </a:solidFill>
                <a:cs typeface="Calibri" pitchFamily="34" charset="-120"/>
              </a:rPr>
              <a:t>graphviz</a:t>
            </a:r>
            <a:endParaRPr lang="en-US" sz="13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6FDFA79-13A4-5046-B57A-284C1E555A11}"/>
              </a:ext>
            </a:extLst>
          </p:cNvPr>
          <p:cNvSpPr/>
          <p:nvPr/>
        </p:nvSpPr>
        <p:spPr>
          <a:xfrm>
            <a:off x="6773133" y="2160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Entscheidungsbaum</a:t>
            </a:r>
            <a:r>
              <a:rPr lang="en-US" sz="1000" dirty="0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C8E4F0"/>
                </a:solidFill>
                <a:latin typeface="Calibri" pitchFamily="34" charset="0"/>
                <a:cs typeface="Calibri" pitchFamily="34" charset="-120"/>
              </a:rPr>
              <a:t>visualiisieren</a:t>
            </a:r>
            <a:endParaRPr lang="en-US" sz="1000" dirty="0">
              <a:solidFill>
                <a:srgbClr val="C8E4F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7C68B0D2-4B7A-BE44-BD32-21051D6B78BC}"/>
              </a:ext>
            </a:extLst>
          </p:cNvPr>
          <p:cNvSpPr/>
          <p:nvPr/>
        </p:nvSpPr>
        <p:spPr>
          <a:xfrm>
            <a:off x="6773133" y="2709608"/>
            <a:ext cx="5029200" cy="713232"/>
          </a:xfrm>
          <a:prstGeom prst="rect">
            <a:avLst/>
          </a:prstGeom>
          <a:solidFill>
            <a:srgbClr val="004178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3A7A77C-1699-4744-9DB8-B5466D0865A7}"/>
              </a:ext>
            </a:extLst>
          </p:cNvPr>
          <p:cNvSpPr/>
          <p:nvPr/>
        </p:nvSpPr>
        <p:spPr>
          <a:xfrm>
            <a:off x="6773133" y="27461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cs typeface="Calibri" pitchFamily="34" charset="-120"/>
              </a:rPr>
              <a:t>Was </a:t>
            </a:r>
            <a:r>
              <a:rPr lang="en-US" sz="1350" b="1" dirty="0" err="1">
                <a:solidFill>
                  <a:srgbClr val="FFFFFF"/>
                </a:solidFill>
                <a:cs typeface="Calibri" pitchFamily="34" charset="-120"/>
              </a:rPr>
              <a:t>kann</a:t>
            </a:r>
            <a:r>
              <a:rPr lang="en-US" sz="1350" b="1" dirty="0">
                <a:solidFill>
                  <a:srgbClr val="FFFFFF"/>
                </a:solidFill>
                <a:cs typeface="Calibri" pitchFamily="34" charset="-120"/>
              </a:rPr>
              <a:t> man </a:t>
            </a:r>
            <a:r>
              <a:rPr lang="en-US" sz="1350" b="1" dirty="0" err="1">
                <a:solidFill>
                  <a:srgbClr val="FFFFFF"/>
                </a:solidFill>
                <a:cs typeface="Calibri" pitchFamily="34" charset="-120"/>
              </a:rPr>
              <a:t>hier</a:t>
            </a:r>
            <a:r>
              <a:rPr lang="en-US" sz="1350" b="1" dirty="0">
                <a:solidFill>
                  <a:srgbClr val="FFFFFF"/>
                </a:solidFill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cs typeface="Calibri" pitchFamily="34" charset="-120"/>
              </a:rPr>
              <a:t>reinmachen</a:t>
            </a:r>
            <a:r>
              <a:rPr lang="en-US" sz="1350" b="1" dirty="0">
                <a:solidFill>
                  <a:srgbClr val="FFFFFF"/>
                </a:solidFill>
                <a:cs typeface="Calibri" pitchFamily="34" charset="-120"/>
              </a:rPr>
              <a:t>?</a:t>
            </a:r>
            <a:endParaRPr lang="en-US" sz="135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02A21AE-90E8-7847-AF9E-CFEF8D88D85C}"/>
              </a:ext>
            </a:extLst>
          </p:cNvPr>
          <p:cNvSpPr/>
          <p:nvPr/>
        </p:nvSpPr>
        <p:spPr>
          <a:xfrm>
            <a:off x="6773133" y="3057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04606FE6-BCB0-8F47-A2D0-815C1C7DB732}"/>
              </a:ext>
            </a:extLst>
          </p:cNvPr>
          <p:cNvSpPr/>
          <p:nvPr/>
        </p:nvSpPr>
        <p:spPr>
          <a:xfrm>
            <a:off x="6773133" y="3605720"/>
            <a:ext cx="5029200" cy="713232"/>
          </a:xfrm>
          <a:prstGeom prst="rect">
            <a:avLst/>
          </a:prstGeom>
          <a:solidFill>
            <a:srgbClr val="00206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EE233DBB-13BA-EE4B-A77B-326ACCD0829B}"/>
              </a:ext>
            </a:extLst>
          </p:cNvPr>
          <p:cNvSpPr/>
          <p:nvPr/>
        </p:nvSpPr>
        <p:spPr>
          <a:xfrm>
            <a:off x="6773133" y="36422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cs typeface="Calibri" pitchFamily="34" charset="-120"/>
              </a:rPr>
              <a:t>?</a:t>
            </a:r>
            <a:endParaRPr lang="en-US" sz="135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4801305-4F50-D14A-9EE4-88293460FC4C}"/>
              </a:ext>
            </a:extLst>
          </p:cNvPr>
          <p:cNvSpPr/>
          <p:nvPr/>
        </p:nvSpPr>
        <p:spPr>
          <a:xfrm>
            <a:off x="6773133" y="3953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4F0"/>
                </a:solidFill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dirty="0"/>
              <a:t>Herausforderungen &amp; Problemstellungen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759574" y="1890229"/>
            <a:ext cx="4737100" cy="3852863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Wissensaufbereitung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PDF-Anleitungen veraltet &amp; unstrukturiert 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de-DE" sz="1200" b="1" dirty="0">
                <a:latin typeface="+mn-lt"/>
              </a:rPr>
              <a:t>Shell-Auswahl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Keine Shell erfüllt alle Kriterien -&gt; bewusster Kompromiss zwischen Lesbarkeit, Wartbarkeit &amp; Webfähigkeit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Webfähigkeit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Mehrere Nutzer gleichzeitig, Serverhosting (lokal vs. Cloud noch offen)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LLM-Kontrolle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LLM darf nicht als Haupt-Wissensquelle dienen </a:t>
            </a:r>
            <a:br>
              <a:rPr lang="de-DE" sz="1200" dirty="0"/>
            </a:br>
            <a:r>
              <a:rPr lang="de-DE" sz="1200" dirty="0"/>
              <a:t>-&gt; Halluzinationen bei konkreten IT-Schritten kritisch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Kategorisierung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Falsche Kategorie durch Nutzer? -&gt; Fallback-Konzept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8C9D0E1-8888-9999-0000-111122223333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150" y="2170112"/>
            <a:ext cx="4895850" cy="1222376"/>
          </a:xfrm>
        </p:spPr>
        <p:txBody>
          <a:bodyPr anchor="t">
            <a:normAutofit/>
          </a:bodyPr>
          <a:lstStyle/>
          <a:p>
            <a:r>
              <a:rPr lang="de-DE" sz="2800"/>
              <a:t>Getroffene Entscheidungen &amp; Begründungen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3"/>
          </p:nvPr>
        </p:nvSpPr>
        <p:spPr>
          <a:xfrm>
            <a:off x="6759575" y="2168525"/>
            <a:ext cx="4737100" cy="3852863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XPS statt reines Python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Regeln explizit, nachvollziehbar &amp; </a:t>
            </a:r>
            <a:r>
              <a:rPr lang="de-DE" sz="1200" dirty="0" err="1"/>
              <a:t>wartbar</a:t>
            </a:r>
            <a:br>
              <a:rPr lang="de-DE" sz="1200" dirty="0"/>
            </a:br>
            <a:r>
              <a:rPr lang="de-DE" sz="1200" dirty="0"/>
              <a:t>Logik transparent dokumentiert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JSON statt XML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Leichtgewichtiger, </a:t>
            </a:r>
            <a:r>
              <a:rPr lang="de-DE" sz="1200" dirty="0" err="1"/>
              <a:t>Pythonbasiert</a:t>
            </a:r>
            <a:r>
              <a:rPr lang="de-DE" sz="1200" dirty="0"/>
              <a:t>, einfacher lesbar, besser in Web-Stacks integrierbar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Rasa ausgeschlossen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~1.000 €/Monat &amp; Python Version veraltet </a:t>
            </a:r>
            <a:br>
              <a:rPr lang="de-DE" sz="1200" dirty="0"/>
            </a:br>
            <a:r>
              <a:rPr lang="de-DE" sz="1200" dirty="0"/>
              <a:t>-&gt;  zu hohe Kosten &amp; Wartungsaufwand</a:t>
            </a:r>
          </a:p>
          <a:p>
            <a:pPr lvl="0">
              <a:lnSpc>
                <a:spcPct val="90000"/>
              </a:lnSpc>
            </a:pPr>
            <a:r>
              <a:rPr lang="de-DE" sz="1200" b="1" dirty="0">
                <a:latin typeface="+mn-lt"/>
              </a:rPr>
              <a:t>LLM nur als Sprachschicht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Verhindert Halluzinationen bei konkreten IT-Anleitungen </a:t>
            </a:r>
            <a:br>
              <a:rPr lang="de-DE" sz="1200" dirty="0"/>
            </a:br>
            <a:r>
              <a:rPr lang="de-DE" sz="1200" dirty="0"/>
              <a:t>sicheres Wissen bleibt kontrolliert</a:t>
            </a:r>
          </a:p>
          <a:p>
            <a:pPr lvl="1">
              <a:lnSpc>
                <a:spcPct val="90000"/>
              </a:lnSpc>
            </a:pPr>
            <a:r>
              <a:rPr lang="de-DE" sz="1200" dirty="0"/>
              <a:t>…..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>
          <a:xfrm>
            <a:off x="695326" y="6176964"/>
            <a:ext cx="71546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9D0E1F2-9999-0000-1111-222233334444}" type="datetime1">
              <a:rPr lang="de-DE" smtClean="0"/>
              <a:pPr>
                <a:spcAft>
                  <a:spcPts val="600"/>
                </a:spcAft>
              </a:pPr>
              <a:t>06.06.26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538243" y="6176964"/>
            <a:ext cx="9000000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Universität Hohenheim · LogiBot · Projektseminar SS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0664791" y="6176964"/>
            <a:ext cx="831883" cy="544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04B226-4361-4E3F-8691-235B281AC8CE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HOH PPT ">
  <a:themeElements>
    <a:clrScheme name="UHOH 1">
      <a:dk1>
        <a:srgbClr val="525250"/>
      </a:dk1>
      <a:lt1>
        <a:sysClr val="window" lastClr="FFFFFF"/>
      </a:lt1>
      <a:dk2>
        <a:srgbClr val="004178"/>
      </a:dk2>
      <a:lt2>
        <a:srgbClr val="EBF2F5"/>
      </a:lt2>
      <a:accent1>
        <a:srgbClr val="6EAAC3"/>
      </a:accent1>
      <a:accent2>
        <a:srgbClr val="4B782D"/>
      </a:accent2>
      <a:accent3>
        <a:srgbClr val="AFC80A"/>
      </a:accent3>
      <a:accent4>
        <a:srgbClr val="731E5A"/>
      </a:accent4>
      <a:accent5>
        <a:srgbClr val="C3A53C"/>
      </a:accent5>
      <a:accent6>
        <a:srgbClr val="EBF2F5"/>
      </a:accent6>
      <a:hlink>
        <a:srgbClr val="7030A0"/>
      </a:hlink>
      <a:folHlink>
        <a:srgbClr val="525250"/>
      </a:folHlink>
    </a:clrScheme>
    <a:fontScheme name="UHOH-Sego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 cmpd="sng" algn="ctr">
          <a:solidFill>
            <a:schemeClr val="tx1">
              <a:lumMod val="40000"/>
              <a:lumOff val="60000"/>
            </a:schemeClr>
          </a:solidFill>
          <a:prstDash val="solid"/>
          <a:round/>
          <a:headEnd type="none" w="med" len="med"/>
          <a:tailEnd type="none" w="lg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e4bc684-102f-461d-a6dc-b1e58752f380}" enabled="1" method="Standard" siteId="{2d75a51b-29e5-45d5-a5c5-5aa979cb6a2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UHOH1</Template>
  <TotalTime>0</TotalTime>
  <Words>560</Words>
  <Application>Microsoft Macintosh PowerPoint</Application>
  <PresentationFormat>Breitbild</PresentationFormat>
  <Paragraphs>140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Arial</vt:lpstr>
      <vt:lpstr>Calibri</vt:lpstr>
      <vt:lpstr>Rockwell</vt:lpstr>
      <vt:lpstr>Segoe UI</vt:lpstr>
      <vt:lpstr>Segoe UI </vt:lpstr>
      <vt:lpstr>Segoe UI Semibold</vt:lpstr>
      <vt:lpstr>Wingdings</vt:lpstr>
      <vt:lpstr>UHOH PPT </vt:lpstr>
      <vt:lpstr>LogiBot </vt:lpstr>
      <vt:lpstr>Gliederung</vt:lpstr>
      <vt:lpstr>Projektüberblick &amp; Zielsetzung</vt:lpstr>
      <vt:lpstr>Meilensteine im Projektverlauf  </vt:lpstr>
      <vt:lpstr>Technologierecherche: Shell-Evaluierung</vt:lpstr>
      <vt:lpstr>Architekturentscheidung</vt:lpstr>
      <vt:lpstr>Wissensbasis &amp; Regelstruktur</vt:lpstr>
      <vt:lpstr>Werkzeuge &amp; Libraries</vt:lpstr>
      <vt:lpstr>Herausforderungen &amp; Problemstellungen</vt:lpstr>
      <vt:lpstr>Getroffene Entscheidungen &amp; Begründungen</vt:lpstr>
    </vt:vector>
  </TitlesOfParts>
  <Company>Universität Hohenheim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Terzoglou, Sabine</dc:creator>
  <cp:lastModifiedBy>Piranavan Rajeekaran</cp:lastModifiedBy>
  <cp:revision>176</cp:revision>
  <dcterms:created xsi:type="dcterms:W3CDTF">2022-11-17T16:00:33Z</dcterms:created>
  <dcterms:modified xsi:type="dcterms:W3CDTF">2026-06-06T10:14:41Z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UHOH PPT :8</vt:lpwstr>
  </property>
  <property fmtid="{D5CDD505-2E9C-101B-9397-08002B2CF9AE}" pid="3" name="ClassificationContentMarkingHeaderText">
    <vt:lpwstr>For business use only / Nur für den geschäftlichen Gebrauch</vt:lpwstr>
  </property>
</Properties>
</file>